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0fa2212a764cd8" /><Relationship Type="http://schemas.openxmlformats.org/officeDocument/2006/relationships/extended-properties" Target="/docProps/app.xml" Id="Rd0a6e4f869c94775" /><Relationship Type="http://schemas.openxmlformats.org/officeDocument/2006/relationships/officeDocument" Target="/ppt/presentation.xml" Id="R9c0807333c314e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5745ef07f5403e"/>
  </p:sldMasterIdLst>
  <p:notesMasterIdLst>
    <p:notesMasterId xmlns:r="http://schemas.openxmlformats.org/officeDocument/2006/relationships" r:id="R92f6352d0c7d4f3c"/>
  </p:notesMasterIdLst>
  <p:sldIdLst>
    <p:sldId xmlns:r="http://schemas.openxmlformats.org/officeDocument/2006/relationships" id="256" r:id="Rb1864936db82491e"/>
    <p:sldId xmlns:r="http://schemas.openxmlformats.org/officeDocument/2006/relationships" id="257" r:id="Ra93bd81c7a764825"/>
    <p:sldId xmlns:r="http://schemas.openxmlformats.org/officeDocument/2006/relationships" id="258" r:id="R46db60ebb15a4b80"/>
    <p:sldId xmlns:r="http://schemas.openxmlformats.org/officeDocument/2006/relationships" id="259" r:id="R1d9d0da30005463b"/>
    <p:sldId xmlns:r="http://schemas.openxmlformats.org/officeDocument/2006/relationships" id="260" r:id="R2e9185399d6c4799"/>
    <p:sldId xmlns:r="http://schemas.openxmlformats.org/officeDocument/2006/relationships" id="261" r:id="R1fc9b7072126423e"/>
    <p:sldId xmlns:r="http://schemas.openxmlformats.org/officeDocument/2006/relationships" id="262" r:id="R35793437db3547e2"/>
    <p:sldId xmlns:r="http://schemas.openxmlformats.org/officeDocument/2006/relationships" id="263" r:id="R63a12bd3af9e4dec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9a9ea44d1a4560" /><Relationship Type="http://schemas.openxmlformats.org/officeDocument/2006/relationships/slideMaster" Target="/ppt/slideMasters/slideMaster1.xml" Id="R345745ef07f5403e" /><Relationship Type="http://schemas.openxmlformats.org/officeDocument/2006/relationships/notesMaster" Target="/ppt/notesMasters/notesMaster1.xml" Id="R92f6352d0c7d4f3c" /><Relationship Type="http://schemas.openxmlformats.org/officeDocument/2006/relationships/presProps" Target="/ppt/presProps.xml" Id="R2f523be61247449d" /><Relationship Type="http://schemas.openxmlformats.org/officeDocument/2006/relationships/tableStyles" Target="/ppt/tableStyles.xml" Id="Raaabaf75b3e64dab" /><Relationship Type="http://schemas.openxmlformats.org/officeDocument/2006/relationships/slide" Target="/ppt/slides/slide1.xml" Id="Rb1864936db82491e" /><Relationship Type="http://schemas.openxmlformats.org/officeDocument/2006/relationships/slide" Target="/ppt/slides/slide2.xml" Id="Ra93bd81c7a764825" /><Relationship Type="http://schemas.openxmlformats.org/officeDocument/2006/relationships/slide" Target="/ppt/slides/slide3.xml" Id="R46db60ebb15a4b80" /><Relationship Type="http://schemas.openxmlformats.org/officeDocument/2006/relationships/slide" Target="/ppt/slides/slide4.xml" Id="R1d9d0da30005463b" /><Relationship Type="http://schemas.openxmlformats.org/officeDocument/2006/relationships/slide" Target="/ppt/slides/slide5.xml" Id="R2e9185399d6c4799" /><Relationship Type="http://schemas.openxmlformats.org/officeDocument/2006/relationships/slide" Target="/ppt/slides/slide6.xml" Id="R1fc9b7072126423e" /><Relationship Type="http://schemas.openxmlformats.org/officeDocument/2006/relationships/slide" Target="/ppt/slides/slide7.xml" Id="R35793437db3547e2" /><Relationship Type="http://schemas.openxmlformats.org/officeDocument/2006/relationships/slide" Target="/ppt/slides/slide8.xml" Id="R63a12bd3af9e4d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1e9f6b7e5344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1eb7b1011d4b91" /><Relationship Type="http://schemas.openxmlformats.org/officeDocument/2006/relationships/notesMaster" Target="/ppt/notesMasters/notesMaster1.xml" Id="R5027ddfa7f4146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a2d337c7a54512" /><Relationship Type="http://schemas.openxmlformats.org/officeDocument/2006/relationships/notesMaster" Target="/ppt/notesMasters/notesMaster1.xml" Id="Rca29d5f5917b4a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25e095ece8400e" /><Relationship Type="http://schemas.openxmlformats.org/officeDocument/2006/relationships/notesMaster" Target="/ppt/notesMasters/notesMaster1.xml" Id="R1b55d79565064a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ed89e3a6fd4e16" /><Relationship Type="http://schemas.openxmlformats.org/officeDocument/2006/relationships/notesMaster" Target="/ppt/notesMasters/notesMaster1.xml" Id="R6cbb2932ad3244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59fb6739a34a70" /><Relationship Type="http://schemas.openxmlformats.org/officeDocument/2006/relationships/notesMaster" Target="/ppt/notesMasters/notesMaster1.xml" Id="Rc113da9f719842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1f5bdb1bec4328" /><Relationship Type="http://schemas.openxmlformats.org/officeDocument/2006/relationships/notesMaster" Target="/ppt/notesMasters/notesMaster1.xml" Id="R37ed09d5b13141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85a44854d34542" /><Relationship Type="http://schemas.openxmlformats.org/officeDocument/2006/relationships/notesMaster" Target="/ppt/notesMasters/notesMaster1.xml" Id="Ra08d61f151354c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f9556fcc9047f1" /><Relationship Type="http://schemas.openxmlformats.org/officeDocument/2006/relationships/notesMaster" Target="/ppt/notesMasters/notesMaster1.xml" Id="R474cb0f4239e43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Career Direct Korea campaign copy: campaigns/blog-launch-2026q3/copy/instagram-facebook.md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Career Direct Korea campaign copy: campaigns/blog-launch-2026q3/copy/instagram-facebook.md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Career Direct Korea campaign copy: campaigns/blog-launch-2026q3/copy/instagram-facebook.md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https://www.careerdirect.kr/blog/why-career-anxiety-and-burnout (Career Direct Korea, 2026-08-15)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Career Direct Korea campaign copy: campaigns/blog-launch-2026q3/copy/instagram-facebook.md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Career Direct Korea campaign copy: campaigns/blog-launch-2026q3/copy/instagram-facebook.md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Career Direct Korea campaign copy: campaigns/blog-launch-2026q3/copy/instagram-facebook.md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Career Direct Korea campaign copy: campaigns/blog-launch-2026q3/copy/instagram-facebook.md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d66134f0d49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d994dc411f4721" /><Relationship Type="http://schemas.openxmlformats.org/officeDocument/2006/relationships/slideLayout" Target="/ppt/slideLayouts/slideLayout1.xml" Id="Rf201aa59cdaf4b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01aa59cdaf4b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6e5cb61794b08" /><Relationship Type="http://schemas.openxmlformats.org/officeDocument/2006/relationships/image" Target="/ppt/media/image.png" Id="Rb1f496b9e8754881" /><Relationship Type="http://schemas.openxmlformats.org/officeDocument/2006/relationships/notesSlide" Target="/ppt/notesSlides/notesSlide1.xml" Id="Rbed7e3db824340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a825fb1a849b5" /><Relationship Type="http://schemas.openxmlformats.org/officeDocument/2006/relationships/image" Target="/ppt/media/image2.png" Id="R19108511229545d4" /><Relationship Type="http://schemas.openxmlformats.org/officeDocument/2006/relationships/notesSlide" Target="/ppt/notesSlides/notesSlide2.xml" Id="R2d59832e37b540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ce68973eb4904" /><Relationship Type="http://schemas.openxmlformats.org/officeDocument/2006/relationships/image" Target="/ppt/media/image3.png" Id="R10395e54918f411f" /><Relationship Type="http://schemas.openxmlformats.org/officeDocument/2006/relationships/notesSlide" Target="/ppt/notesSlides/notesSlide3.xml" Id="R803e923c452642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93cdd3e0a4602" /><Relationship Type="http://schemas.openxmlformats.org/officeDocument/2006/relationships/image" Target="/ppt/media/image4.png" Id="R13e80a055f3b401d" /><Relationship Type="http://schemas.openxmlformats.org/officeDocument/2006/relationships/notesSlide" Target="/ppt/notesSlides/notesSlide4.xml" Id="R23a22ebde52d40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ab5409c054594" /><Relationship Type="http://schemas.openxmlformats.org/officeDocument/2006/relationships/image" Target="/ppt/media/image5.png" Id="R0489fbc5a7954e9f" /><Relationship Type="http://schemas.openxmlformats.org/officeDocument/2006/relationships/notesSlide" Target="/ppt/notesSlides/notesSlide5.xml" Id="Reae198bf35b842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b759ec8844c95" /><Relationship Type="http://schemas.openxmlformats.org/officeDocument/2006/relationships/image" Target="/ppt/media/image6.png" Id="R6f9fe4102a6a45e2" /><Relationship Type="http://schemas.openxmlformats.org/officeDocument/2006/relationships/notesSlide" Target="/ppt/notesSlides/notesSlide6.xml" Id="Rb7e4f9393af944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5e3438a434871" /><Relationship Type="http://schemas.openxmlformats.org/officeDocument/2006/relationships/image" Target="/ppt/media/image7.png" Id="R5a0db0621a204974" /><Relationship Type="http://schemas.openxmlformats.org/officeDocument/2006/relationships/notesSlide" Target="/ppt/notesSlides/notesSlide7.xml" Id="R6bb013dcf25d4d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3cab728c54951" /><Relationship Type="http://schemas.openxmlformats.org/officeDocument/2006/relationships/image" Target="/ppt/media/image8.png" Id="Rcc0d60eac5514f6c" /><Relationship Type="http://schemas.openxmlformats.org/officeDocument/2006/relationships/notesSlide" Target="/ppt/notesSlides/notesSlide8.xml" Id="R7a317aa7bb7b49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8E6EF-5B17-4704-8515-04CDCAD1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7C6"/>
          </a:solidFill>
          <a:ln xmlns:a="http://schemas.openxmlformats.org/drawingml/2006/main" w="0">
            <a:solidFill>
              <a:srgbClr val="65C7C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6B41D-D2B0-4D9B-A1DB-73379253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-809625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7C6"/>
          </a:solidFill>
          <a:ln xmlns:a="http://schemas.openxmlformats.org/drawingml/2006/main" w="0">
            <a:solidFill>
              <a:srgbClr val="65C7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2080D-4CA3-47BC-9C3D-38B8944D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5C7C6"/>
                </a:solidFill>
              </a:defRPr>
            </a:pPr>
            <a:r>
              <a:rPr sz="1575" b="1">
                <a:solidFill>
                  <a:srgbClr val="65C7C6"/>
                </a:solidFill>
              </a:rPr>
              <a:t>01 · COVER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94CF1-1F0C-4389-A362-D7D0C3BF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8382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250" b="1">
                <a:solidFill>
                  <a:srgbClr val="F8F5EC"/>
                </a:solidFill>
              </a:defRPr>
            </a:pPr>
            <a:r>
              <a:rPr sz="5250" b="1">
                <a:solidFill>
                  <a:srgbClr val="F8F5EC"/>
                </a:solidFill>
              </a:rPr>
              <a:t>왜 열심히 사는데도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250" b="1">
                <a:solidFill>
                  <a:srgbClr val="F8F5EC"/>
                </a:solidFill>
              </a:defRPr>
            </a:pPr>
            <a:r>
              <a:rPr sz="5250" b="1">
                <a:solidFill>
                  <a:srgbClr val="F8F5EC"/>
                </a:solidFill>
              </a:rPr>
              <a:t>진로 불안과 번아웃을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250" b="1">
                <a:solidFill>
                  <a:srgbClr val="F8F5EC"/>
                </a:solidFill>
              </a:defRPr>
            </a:pPr>
            <a:r>
              <a:rPr sz="5250" b="1">
                <a:solidFill>
                  <a:srgbClr val="F8F5EC"/>
                </a:solidFill>
              </a:rPr>
              <a:t>느낄까요?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648E4-4749-4459-A6B4-2C743EE2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876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7C6"/>
          </a:solidFill>
          <a:ln xmlns:a="http://schemas.openxmlformats.org/drawingml/2006/main" w="0">
            <a:solidFill>
              <a:srgbClr val="65C7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7D4E1-751F-4410-85CA-DE334A09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0"/>
            <a:ext cx="8334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4000"/>
              </a:lnSpc>
              <a:buNone/>
              <a:defRPr sz="2325" b="0">
                <a:solidFill>
                  <a:srgbClr val="F8F5EC"/>
                </a:solidFill>
              </a:defRPr>
            </a:pPr>
            <a:r>
              <a:rPr sz="2325" b="0">
                <a:solidFill>
                  <a:srgbClr val="F8F5EC"/>
                </a:solidFill>
              </a:rPr>
              <a:t>피로와 방향의 불안을 구분하는 첫 점검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496b9e8754881"/>
          <a:stretch xmlns:a="http://schemas.openxmlformats.org/drawingml/2006/main"/>
        </p:blipFill>
        <p:spPr>
          <a:xfrm xmlns:a="http://schemas.openxmlformats.org/drawingml/2006/main">
            <a:off x="800100" y="9098741"/>
            <a:ext cx="2333625" cy="65249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4E0E0-A9D5-4FC3-86EC-D13379D4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277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5EC"/>
                </a:solidFill>
              </a:defRPr>
            </a:pPr>
            <a:r>
              <a:rPr sz="1200" b="1">
                <a:solidFill>
                  <a:srgbClr val="F8F5EC"/>
                </a:solidFill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299690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230F2-9FE2-492E-AD27-708C5F66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45B"/>
          </a:solidFill>
          <a:ln xmlns:a="http://schemas.openxmlformats.org/drawingml/2006/main" w="0">
            <a:solidFill>
              <a:srgbClr val="E6A4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BFCB2-70C0-49D1-879C-F3BBE64E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-809625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45B"/>
          </a:solidFill>
          <a:ln xmlns:a="http://schemas.openxmlformats.org/drawingml/2006/main" w="0">
            <a:solidFill>
              <a:srgbClr val="E6A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E89CC-F18C-4C38-BF6B-D782E55A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6A45B"/>
                </a:solidFill>
              </a:defRPr>
            </a:pPr>
            <a:r>
              <a:rPr sz="1575" b="1">
                <a:solidFill>
                  <a:srgbClr val="E6A45B"/>
                </a:solidFill>
              </a:rPr>
              <a:t>02 · REFRAME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09E48-3DEE-40F5-8616-3E1DB232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350" b="1">
                <a:solidFill>
                  <a:srgbClr val="102F4F"/>
                </a:solidFill>
              </a:defRPr>
            </a:pPr>
            <a:r>
              <a:rPr sz="4350" b="1">
                <a:solidFill>
                  <a:srgbClr val="102F4F"/>
                </a:solidFill>
              </a:rPr>
              <a:t>노력 부족이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4350" b="1">
                <a:solidFill>
                  <a:srgbClr val="102F4F"/>
                </a:solidFill>
              </a:defRPr>
            </a:pPr>
            <a:r>
              <a:rPr sz="4350" b="1">
                <a:solidFill>
                  <a:srgbClr val="102F4F"/>
                </a:solidFill>
              </a:rPr>
              <a:t>아닐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AB2F6-6E5D-4AD1-BE26-94703F71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876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45B"/>
          </a:solidFill>
          <a:ln xmlns:a="http://schemas.openxmlformats.org/drawingml/2006/main" w="0">
            <a:solidFill>
              <a:srgbClr val="E6A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96B97-E7A2-4B83-9B76-A3CFF7C3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8334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회복되지 않은 업무 스트레스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나에게 맞지 않는 역할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타인의 기준으로 세운 목표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세 가지가 겹치면 노력은 늘어도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방향감은 약해질 수 있습니다.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08511229545d4"/>
          <a:stretch xmlns:a="http://schemas.openxmlformats.org/drawingml/2006/main"/>
        </p:blipFill>
        <p:spPr>
          <a:xfrm xmlns:a="http://schemas.openxmlformats.org/drawingml/2006/main">
            <a:off x="800100" y="9098741"/>
            <a:ext cx="2333625" cy="65249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B3E7D-E13E-4A31-A646-1DC9CD4D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277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F4F"/>
                </a:solidFill>
              </a:defRPr>
            </a:pPr>
            <a:r>
              <a:rPr sz="1200" b="1">
                <a:solidFill>
                  <a:srgbClr val="102F4F"/>
                </a:solidFill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3286849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D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055C1-281B-4CE0-AA08-DB277B62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778"/>
          </a:solidFill>
          <a:ln xmlns:a="http://schemas.openxmlformats.org/drawingml/2006/main" w="0">
            <a:solidFill>
              <a:srgbClr val="1D777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4D7A7-4E83-4234-BD34-56C2FF8C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-809625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778"/>
          </a:solidFill>
          <a:ln xmlns:a="http://schemas.openxmlformats.org/drawingml/2006/main" w="0">
            <a:solidFill>
              <a:srgbClr val="1D777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E24C0-DD68-47CF-B57E-DA27B842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7778"/>
                </a:solidFill>
              </a:defRPr>
            </a:pPr>
            <a:r>
              <a:rPr sz="1575" b="1">
                <a:solidFill>
                  <a:srgbClr val="1D7778"/>
                </a:solidFill>
              </a:rPr>
              <a:t>03 · DISTINGUISH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60778-8D1B-441F-A785-4E6F3B57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350" b="1">
                <a:solidFill>
                  <a:srgbClr val="102F4F"/>
                </a:solidFill>
              </a:defRPr>
            </a:pPr>
            <a:r>
              <a:rPr sz="4350" b="1">
                <a:solidFill>
                  <a:srgbClr val="102F4F"/>
                </a:solidFill>
              </a:rPr>
              <a:t>번아웃과 진로 불안은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4350" b="1">
                <a:solidFill>
                  <a:srgbClr val="102F4F"/>
                </a:solidFill>
              </a:defRPr>
            </a:pPr>
            <a:r>
              <a:rPr sz="4350" b="1">
                <a:solidFill>
                  <a:srgbClr val="102F4F"/>
                </a:solidFill>
              </a:rPr>
              <a:t>다릅니다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59BEB-AE38-4A46-BA2F-B5DC693B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876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778"/>
          </a:solidFill>
          <a:ln xmlns:a="http://schemas.openxmlformats.org/drawingml/2006/main" w="0">
            <a:solidFill>
              <a:srgbClr val="1D77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C2F9C-2D23-421F-8DE2-DA7E59A2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8334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번아웃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에너지 고갈과 일에서 심리적으로 멀어지는 상태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진로 불안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‘이 일을 계속해도 될까?’라는 방향과 선택의 문제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95e54918f411f"/>
          <a:stretch xmlns:a="http://schemas.openxmlformats.org/drawingml/2006/main"/>
        </p:blipFill>
        <p:spPr>
          <a:xfrm xmlns:a="http://schemas.openxmlformats.org/drawingml/2006/main">
            <a:off x="800100" y="9098741"/>
            <a:ext cx="2333625" cy="65249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7B2C2-C0AA-4AB1-85BE-04D30B1F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277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F4F"/>
                </a:solidFill>
              </a:defRPr>
            </a:pPr>
            <a:r>
              <a:rPr sz="1200" b="1">
                <a:solidFill>
                  <a:srgbClr val="102F4F"/>
                </a:solidFill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692647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D3D9C-D364-449E-8914-7712A247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A4A"/>
          </a:solidFill>
          <a:ln xmlns:a="http://schemas.openxmlformats.org/drawingml/2006/main" w="0">
            <a:solidFill>
              <a:srgbClr val="D66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D72C9-C452-4414-A23F-EEA6433D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-809625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4A"/>
          </a:solidFill>
          <a:ln xmlns:a="http://schemas.openxmlformats.org/drawingml/2006/main" w="0">
            <a:solidFill>
              <a:srgbClr val="D66A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FA53A-FC32-45B7-A1DB-CC9DFB82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66A4A"/>
                </a:solidFill>
              </a:defRPr>
            </a:pPr>
            <a:r>
              <a:rPr sz="1575" b="1">
                <a:solidFill>
                  <a:srgbClr val="D66A4A"/>
                </a:solidFill>
              </a:rPr>
              <a:t>04 · SAFETY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F1508-5E8E-435A-BC7B-0BFEAB26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350" b="1">
                <a:solidFill>
                  <a:srgbClr val="102F4F"/>
                </a:solidFill>
              </a:defRPr>
            </a:pPr>
            <a:r>
              <a:rPr sz="4350" b="1">
                <a:solidFill>
                  <a:srgbClr val="102F4F"/>
                </a:solidFill>
              </a:rPr>
              <a:t>먼저 안전과 회복을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4350" b="1">
                <a:solidFill>
                  <a:srgbClr val="102F4F"/>
                </a:solidFill>
              </a:defRPr>
            </a:pPr>
            <a:r>
              <a:rPr sz="4350" b="1">
                <a:solidFill>
                  <a:srgbClr val="102F4F"/>
                </a:solidFill>
              </a:rPr>
              <a:t>확인하세요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2CD04-3E7C-4906-94EC-E3CA682F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876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A4A"/>
          </a:solidFill>
          <a:ln xmlns:a="http://schemas.openxmlformats.org/drawingml/2006/main" w="0">
            <a:solidFill>
              <a:srgbClr val="D66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12A14-7E78-4F16-857A-B53F5E21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8334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수면·식사가 무너지거나 우울과 불안이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일상을 크게 방해한다면, 진로 결정보다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의료기관이나 전문상담기관의 도움을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먼저 받으세요.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80a055f3b401d"/>
          <a:stretch xmlns:a="http://schemas.openxmlformats.org/drawingml/2006/main"/>
        </p:blipFill>
        <p:spPr>
          <a:xfrm xmlns:a="http://schemas.openxmlformats.org/drawingml/2006/main">
            <a:off x="800100" y="9098741"/>
            <a:ext cx="2333625" cy="65249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BCEC6-6A51-4927-9BDA-94E99086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277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F4F"/>
                </a:solidFill>
              </a:defRPr>
            </a:pPr>
            <a:r>
              <a:rPr sz="1200" b="1">
                <a:solidFill>
                  <a:srgbClr val="102F4F"/>
                </a:solidFill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19129545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F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580B2-8EE5-4915-B3F0-A06084DE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7C6"/>
          </a:solidFill>
          <a:ln xmlns:a="http://schemas.openxmlformats.org/drawingml/2006/main" w="0">
            <a:solidFill>
              <a:srgbClr val="65C7C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007D4-CD55-4DB5-97EC-01348D25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-809625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7C6"/>
          </a:solidFill>
          <a:ln xmlns:a="http://schemas.openxmlformats.org/drawingml/2006/main" w="0">
            <a:solidFill>
              <a:srgbClr val="65C7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CC4DF-6A24-48E6-A99D-1E85214A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5C7C6"/>
                </a:solidFill>
              </a:defRPr>
            </a:pPr>
            <a:r>
              <a:rPr sz="1575" b="1">
                <a:solidFill>
                  <a:srgbClr val="65C7C6"/>
                </a:solidFill>
              </a:rPr>
              <a:t>05 · FOUR AREAS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08424-0C5B-4086-9B12-1B479444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350" b="1">
                <a:solidFill>
                  <a:srgbClr val="F8F5EC"/>
                </a:solidFill>
              </a:defRPr>
            </a:pPr>
            <a:r>
              <a:rPr sz="4350" b="1">
                <a:solidFill>
                  <a:srgbClr val="F8F5EC"/>
                </a:solidFill>
              </a:rPr>
              <a:t>문제를 네 영역으로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4350" b="1">
                <a:solidFill>
                  <a:srgbClr val="F8F5EC"/>
                </a:solidFill>
              </a:defRPr>
            </a:pPr>
            <a:r>
              <a:rPr sz="4350" b="1">
                <a:solidFill>
                  <a:srgbClr val="F8F5EC"/>
                </a:solidFill>
              </a:rPr>
              <a:t>나누어 보세요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C00FA-41F3-415B-8F4C-F0414A5D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876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7C6"/>
          </a:solidFill>
          <a:ln xmlns:a="http://schemas.openxmlformats.org/drawingml/2006/main" w="0">
            <a:solidFill>
              <a:srgbClr val="65C7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D0787-CD7E-4269-BD3F-1ADB0B76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8334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F8F5EC"/>
                </a:solidFill>
              </a:defRPr>
            </a:pPr>
            <a:r>
              <a:rPr sz="2100" b="0">
                <a:solidFill>
                  <a:srgbClr val="F8F5EC"/>
                </a:solidFill>
              </a:rPr>
              <a:t>01  에너지 · 쉬어도 회복되지 않는가?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F8F5EC"/>
                </a:solidFill>
              </a:defRPr>
            </a:pPr>
            <a:r>
              <a:rPr sz="2100" b="0">
                <a:solidFill>
                  <a:srgbClr val="F8F5EC"/>
                </a:solidFill>
              </a:rPr>
              <a:t>02  역할 · 업무 방식이 강점을 거스르는가?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F8F5EC"/>
                </a:solidFill>
              </a:defRPr>
            </a:pPr>
            <a:r>
              <a:rPr sz="2100" b="0">
                <a:solidFill>
                  <a:srgbClr val="F8F5EC"/>
                </a:solidFill>
              </a:rPr>
              <a:t>03  의미 · 중요한 가치와 충돌하는가?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F8F5EC"/>
                </a:solidFill>
              </a:defRPr>
            </a:pPr>
            <a:r>
              <a:rPr sz="2100" b="0">
                <a:solidFill>
                  <a:srgbClr val="F8F5EC"/>
                </a:solidFill>
              </a:rPr>
              <a:t>04  환경 · 업무량·관계·보상 중 무엇이 부담인가?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9fbc5a7954e9f"/>
          <a:stretch xmlns:a="http://schemas.openxmlformats.org/drawingml/2006/main"/>
        </p:blipFill>
        <p:spPr>
          <a:xfrm xmlns:a="http://schemas.openxmlformats.org/drawingml/2006/main">
            <a:off x="800100" y="9098741"/>
            <a:ext cx="2333625" cy="65249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B5A71-A13D-42E5-8F29-85F540BA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277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5EC"/>
                </a:solidFill>
              </a:defRPr>
            </a:pPr>
            <a:r>
              <a:rPr sz="1200" b="1">
                <a:solidFill>
                  <a:srgbClr val="F8F5EC"/>
                </a:solidFill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2181737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CC8F2-7F3E-4156-92CD-5E4F4EA6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45B"/>
          </a:solidFill>
          <a:ln xmlns:a="http://schemas.openxmlformats.org/drawingml/2006/main" w="0">
            <a:solidFill>
              <a:srgbClr val="E6A4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5183D-36BA-4A59-BA05-A892CC40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-809625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45B"/>
          </a:solidFill>
          <a:ln xmlns:a="http://schemas.openxmlformats.org/drawingml/2006/main" w="0">
            <a:solidFill>
              <a:srgbClr val="E6A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EAA9E-B50D-4213-83D4-C3A1A0F1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6A45B"/>
                </a:solidFill>
              </a:defRPr>
            </a:pPr>
            <a:r>
              <a:rPr sz="1575" b="1">
                <a:solidFill>
                  <a:srgbClr val="E6A45B"/>
                </a:solidFill>
              </a:rPr>
              <a:t>06 · OBSERVE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9FC12-6676-46B0-A7C9-38C1829A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350" b="1">
                <a:solidFill>
                  <a:srgbClr val="102F4F"/>
                </a:solidFill>
              </a:defRPr>
            </a:pPr>
            <a:r>
              <a:rPr sz="4350" b="1">
                <a:solidFill>
                  <a:srgbClr val="102F4F"/>
                </a:solidFill>
              </a:rPr>
              <a:t>퇴사 결정 전에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4350" b="1">
                <a:solidFill>
                  <a:srgbClr val="102F4F"/>
                </a:solidFill>
              </a:defRPr>
            </a:pPr>
            <a:r>
              <a:rPr sz="4350" b="1">
                <a:solidFill>
                  <a:srgbClr val="102F4F"/>
                </a:solidFill>
              </a:rPr>
              <a:t>관찰하세요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364C5-C070-4E65-9266-ED885421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876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45B"/>
          </a:solidFill>
          <a:ln xmlns:a="http://schemas.openxmlformats.org/drawingml/2006/main" w="0">
            <a:solidFill>
              <a:srgbClr val="E6A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1BBE6-CA46-4519-A6EC-61D5706F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8334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불안과 소진이 커지는 순간을 기록하고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회복이 필요한 문제와 방향을 바꿔야 하는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문제를 분리하세요.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지친 상태에서는 큰 결정을 서두르지 않습니다.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fe4102a6a45e2"/>
          <a:stretch xmlns:a="http://schemas.openxmlformats.org/drawingml/2006/main"/>
        </p:blipFill>
        <p:spPr>
          <a:xfrm xmlns:a="http://schemas.openxmlformats.org/drawingml/2006/main">
            <a:off x="800100" y="9098741"/>
            <a:ext cx="2333625" cy="65249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C7F22-E3F6-4B31-8DD9-DCC99935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277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F4F"/>
                </a:solidFill>
              </a:defRPr>
            </a:pPr>
            <a:r>
              <a:rPr sz="1200" b="1">
                <a:solidFill>
                  <a:srgbClr val="102F4F"/>
                </a:solidFill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1503872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D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EA915-140C-43A6-BB42-EC5F97BE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778"/>
          </a:solidFill>
          <a:ln xmlns:a="http://schemas.openxmlformats.org/drawingml/2006/main" w="0">
            <a:solidFill>
              <a:srgbClr val="1D777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0F3C4-C928-4352-8E0F-ECF6D9B1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-809625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778"/>
          </a:solidFill>
          <a:ln xmlns:a="http://schemas.openxmlformats.org/drawingml/2006/main" w="0">
            <a:solidFill>
              <a:srgbClr val="1D777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397C5-2DB2-43F6-BD1F-E3357E26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7778"/>
                </a:solidFill>
              </a:defRPr>
            </a:pPr>
            <a:r>
              <a:rPr sz="1575" b="1">
                <a:solidFill>
                  <a:srgbClr val="1D7778"/>
                </a:solidFill>
              </a:rPr>
              <a:t>07 · SELF-UNDERSTANDING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9D046-EE8D-4F81-A9B7-F8BABB2D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350" b="1">
                <a:solidFill>
                  <a:srgbClr val="102F4F"/>
                </a:solidFill>
              </a:defRPr>
            </a:pPr>
            <a:r>
              <a:rPr sz="4350" b="1">
                <a:solidFill>
                  <a:srgbClr val="102F4F"/>
                </a:solidFill>
              </a:rPr>
              <a:t>네 가지 자기이해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B0C24-DDD6-4530-9546-03D1091E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876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778"/>
          </a:solidFill>
          <a:ln xmlns:a="http://schemas.openxmlformats.org/drawingml/2006/main" w="0">
            <a:solidFill>
              <a:srgbClr val="1D77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AA776-1EA8-4072-BD12-2E15AEC9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8334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성격  · 어떤 방식이 자연스러운가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흥미  · 무엇이 계속 궁금한가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재능  · 어디서 반복해 좋은 결과를 내는가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가치관 · 무엇을 포기하기 어려운가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102F4F"/>
                </a:solidFill>
              </a:defRPr>
            </a:pPr>
            <a:r>
              <a:rPr sz="2100" b="0">
                <a:solidFill>
                  <a:srgbClr val="102F4F"/>
                </a:solidFill>
              </a:rPr>
              <a:t>평가는 직업을 대신 결정하지 않습니다.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db0621a204974"/>
          <a:stretch xmlns:a="http://schemas.openxmlformats.org/drawingml/2006/main"/>
        </p:blipFill>
        <p:spPr>
          <a:xfrm xmlns:a="http://schemas.openxmlformats.org/drawingml/2006/main">
            <a:off x="800100" y="9098741"/>
            <a:ext cx="2333625" cy="65249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0C569-9C74-47E3-A76C-AB4D764A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277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F4F"/>
                </a:solidFill>
              </a:defRPr>
            </a:pPr>
            <a:r>
              <a:rPr sz="1200" b="1">
                <a:solidFill>
                  <a:srgbClr val="102F4F"/>
                </a:solidFill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4982802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F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0BF2C-83CE-4913-A146-1AF07A3C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45B"/>
          </a:solidFill>
          <a:ln xmlns:a="http://schemas.openxmlformats.org/drawingml/2006/main" w="0">
            <a:solidFill>
              <a:srgbClr val="E6A4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987F7-3F47-464A-8D9D-9236B522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-809625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45B"/>
          </a:solidFill>
          <a:ln xmlns:a="http://schemas.openxmlformats.org/drawingml/2006/main" w="0">
            <a:solidFill>
              <a:srgbClr val="E6A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2F172-FA80-439E-8209-2BE8A7DE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6A45B"/>
                </a:solidFill>
              </a:defRPr>
            </a:pPr>
            <a:r>
              <a:rPr sz="1575" b="1">
                <a:solidFill>
                  <a:srgbClr val="E6A45B"/>
                </a:solidFill>
              </a:rPr>
              <a:t>08 · 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71EE9-25E3-4A6E-B6D7-ADA9F647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350" b="1">
                <a:solidFill>
                  <a:srgbClr val="F8F5EC"/>
                </a:solidFill>
              </a:defRPr>
            </a:pPr>
            <a:r>
              <a:rPr sz="4350" b="1">
                <a:solidFill>
                  <a:srgbClr val="F8F5EC"/>
                </a:solidFill>
              </a:rPr>
              <a:t>결론보다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4350" b="1">
                <a:solidFill>
                  <a:srgbClr val="F8F5EC"/>
                </a:solidFill>
              </a:defRPr>
            </a:pPr>
            <a:r>
              <a:rPr sz="4350" b="1">
                <a:solidFill>
                  <a:srgbClr val="F8F5EC"/>
                </a:solidFill>
              </a:rPr>
              <a:t>작은 변화 한 가지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E4D8B-921F-42F2-BD62-00FD2DCE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876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45B"/>
          </a:solidFill>
          <a:ln xmlns:a="http://schemas.openxmlformats.org/drawingml/2006/main" w="0">
            <a:solidFill>
              <a:srgbClr val="E6A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031C1-1128-43E6-80A3-4314CEC9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8334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F8F5EC"/>
                </a:solidFill>
              </a:defRPr>
            </a:pPr>
            <a:r>
              <a:rPr sz="2100" b="0">
                <a:solidFill>
                  <a:srgbClr val="F8F5EC"/>
                </a:solidFill>
              </a:rPr>
              <a:t>무료 진로 방향 자가진단으로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F8F5EC"/>
                </a:solidFill>
              </a:defRPr>
            </a:pPr>
            <a:r>
              <a:rPr sz="2100" b="0">
                <a:solidFill>
                  <a:srgbClr val="F8F5EC"/>
                </a:solidFill>
              </a:rPr>
              <a:t>지금 가장 흐린 기준부터 확인하세요.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F8F5EC"/>
                </a:solidFill>
              </a:defRPr>
            </a:pPr>
            <a:r>
              <a:rPr sz="2100" b="0">
                <a:solidFill>
                  <a:srgbClr val="F8F5EC"/>
                </a:solidFill>
              </a:rPr>
              <a:t>성격 · 흥미 · 재능 · 가치관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100" b="0">
                <a:solidFill>
                  <a:srgbClr val="F8F5EC"/>
                </a:solidFill>
              </a:defRPr>
            </a:pPr>
            <a:r>
              <a:rPr sz="2100" b="0">
                <a:solidFill>
                  <a:srgbClr val="F8F5EC"/>
                </a:solidFill>
              </a:rPr>
              <a:t>careerdirect.kr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d60eac5514f6c"/>
          <a:stretch xmlns:a="http://schemas.openxmlformats.org/drawingml/2006/main"/>
        </p:blipFill>
        <p:spPr>
          <a:xfrm xmlns:a="http://schemas.openxmlformats.org/drawingml/2006/main">
            <a:off x="800100" y="9098741"/>
            <a:ext cx="2333625" cy="65249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95888-F6AB-497D-BB66-DABF3E50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277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5EC"/>
                </a:solidFill>
              </a:defRPr>
            </a:pPr>
            <a:r>
              <a:rPr sz="1200" b="1">
                <a:solidFill>
                  <a:srgbClr val="F8F5EC"/>
                </a:solidFill>
              </a:rP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1984683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2026-08-15T03:40:20.4330000Z</dcterms:created>
  <dcterms:modified xsi:type="dcterms:W3CDTF">2026-08-15T03:40:20.4330000Z</dcterms:modified>
</coreProperties>
</file>